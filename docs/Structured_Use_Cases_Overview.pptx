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51"/>
    <p:restoredTop sz="94663"/>
  </p:normalViewPr>
  <p:slideViewPr>
    <p:cSldViewPr snapToGrid="0">
      <p:cViewPr varScale="1">
        <p:scale>
          <a:sx n="99" d="100"/>
          <a:sy n="99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>
            <a:extLst>
              <a:ext uri="{FF2B5EF4-FFF2-40B4-BE49-F238E27FC236}">
                <a16:creationId xmlns:a16="http://schemas.microsoft.com/office/drawing/2014/main" id="{B11ED178-65FC-441F-A26B-BA23DC7CD7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571500"/>
            <a:ext cx="2000250" cy="580718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3DA05951-F39F-40AF-9B9A-1A3B1F832DC4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6953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31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31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Structured Use Cases for SysML v2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7B001ED1-B7F7-4285-A636-AF08E70999E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671512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1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 alternative use case library for SysML v2</a:t>
            </a:r>
          </a:p>
        </p:txBody>
      </p:sp>
      <p:sp>
        <p:nvSpPr>
          <p:cNvPr id="5" name="accent-block">
            <a:extLst>
              <a:ext uri="{FF2B5EF4-FFF2-40B4-BE49-F238E27FC236}">
                <a16:creationId xmlns:a16="http://schemas.microsoft.com/office/drawing/2014/main" id="{D86AB7F0-0DAF-479D-8CDB-899768B307E1}"/>
              </a:ext>
            </a:extLst>
          </p:cNvPr>
          <p:cNvSpPr>
            <a:spLocks noGrp="1"/>
          </p:cNvSpPr>
          <p:nvPr/>
        </p:nvSpPr>
        <p:spPr>
          <a:xfrm>
            <a:off x="8877300" y="914400"/>
            <a:ext cx="38100" cy="4476750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6" name="module">
            <a:extLst>
              <a:ext uri="{FF2B5EF4-FFF2-40B4-BE49-F238E27FC236}">
                <a16:creationId xmlns:a16="http://schemas.microsoft.com/office/drawing/2014/main" id="{AA2D2030-917F-4E3D-A796-0827DD662D15}"/>
              </a:ext>
            </a:extLst>
          </p:cNvPr>
          <p:cNvSpPr>
            <a:spLocks noGrp="1"/>
          </p:cNvSpPr>
          <p:nvPr/>
        </p:nvSpPr>
        <p:spPr>
          <a:xfrm>
            <a:off x="9220200" y="19431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1425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Structured Use Cases</a:t>
            </a:r>
          </a:p>
        </p:txBody>
      </p:sp>
      <p:sp>
        <p:nvSpPr>
          <p:cNvPr id="7" name="topic">
            <a:extLst>
              <a:ext uri="{FF2B5EF4-FFF2-40B4-BE49-F238E27FC236}">
                <a16:creationId xmlns:a16="http://schemas.microsoft.com/office/drawing/2014/main" id="{408150A7-0A57-40AF-83A1-3AAA36804331}"/>
              </a:ext>
            </a:extLst>
          </p:cNvPr>
          <p:cNvSpPr>
            <a:spLocks noGrp="1"/>
          </p:cNvSpPr>
          <p:nvPr/>
        </p:nvSpPr>
        <p:spPr>
          <a:xfrm>
            <a:off x="9220200" y="2362200"/>
            <a:ext cx="2190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Making use case behavior queryable, testable, and useful</a:t>
            </a:r>
          </a:p>
        </p:txBody>
      </p:sp>
      <p:sp>
        <p:nvSpPr>
          <p:cNvPr id="8" name="presenter">
            <a:extLst>
              <a:ext uri="{FF2B5EF4-FFF2-40B4-BE49-F238E27FC236}">
                <a16:creationId xmlns:a16="http://schemas.microsoft.com/office/drawing/2014/main" id="{0A2520D5-2F75-4D9A-93C0-5C75A0459783}"/>
              </a:ext>
            </a:extLst>
          </p:cNvPr>
          <p:cNvSpPr>
            <a:spLocks noGrp="1"/>
          </p:cNvSpPr>
          <p:nvPr/>
        </p:nvSpPr>
        <p:spPr>
          <a:xfrm>
            <a:off x="9220200" y="3733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Doug Rosenberg</a:t>
            </a:r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49F811F1-C774-4261-84F8-3A44CB432660}"/>
              </a:ext>
            </a:extLst>
          </p:cNvPr>
          <p:cNvSpPr>
            <a:spLocks noGrp="1"/>
          </p:cNvSpPr>
          <p:nvPr/>
        </p:nvSpPr>
        <p:spPr>
          <a:xfrm>
            <a:off x="9220200" y="40195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10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September 2026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91081AB1-CD7C-4601-84D8-AA09C04BF8ED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2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5008D23F-DBC0-44DC-847E-688ECD8ABF8C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Motivation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16CC4B1-8EA9-4BAC-B10B-E9EA07AD95A2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0131" y="1238250"/>
            <a:ext cx="9171738" cy="4762500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9E26FBB4-6D70-4E6B-B1FE-EC7D2440DAF9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B5FFFD57-1F5E-4222-9FE4-2A90F68866B5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Motivation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1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481BF017-9F23-46A2-BB9C-267B4E70736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proposal restores familiar actor-to-use-case relationships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4BCDE47C-3A84-45CC-A9C4-64C4735E26B9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5316" y="1143000"/>
            <a:ext cx="4778868" cy="4381500"/>
          </a:xfrm>
          <a:prstGeom prst="rect">
            <a:avLst/>
          </a:prstGeom>
        </p:spPr>
      </p:pic>
      <p:sp>
        <p:nvSpPr>
          <p:cNvPr id="4" name="right-bullets">
            <a:extLst>
              <a:ext uri="{FF2B5EF4-FFF2-40B4-BE49-F238E27FC236}">
                <a16:creationId xmlns:a16="http://schemas.microsoft.com/office/drawing/2014/main" id="{65856604-31B2-4E00-892D-09E1E63C4F3E}"/>
              </a:ext>
            </a:extLst>
          </p:cNvPr>
          <p:cNvSpPr>
            <a:spLocks noGrp="1"/>
          </p:cNvSpPr>
          <p:nvPr/>
        </p:nvSpPr>
        <p:spPr>
          <a:xfrm>
            <a:off x="7239000" y="1676400"/>
            <a:ext cx="3476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Current SysML v2 makes this ordinary diagram pattern awkward.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same actor can participate in several use cases.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diagram reads like the use case diagrams engineers already know.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actor is still modeled explicitly, so tools can analyze participation.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381EBD7-44F6-4D3B-B17B-20A3CFC25FE4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7A1E47AC-AA93-4118-9BA8-3ABC6DF90299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Diagram motivation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5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D71AA62D-5A2E-4C52-8994-CE87E91C5EE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bigger problem is missing scenario structure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21078D28-DE24-4EEF-BAED-B60641558807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09850" y="1238250"/>
            <a:ext cx="6972300" cy="4648200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C8E7DB9D-4254-451F-B42C-757AAD462D9F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513C772C-E290-4C83-BD77-98DEF099274C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Motivation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D2A2BABE-6952-45B1-A68D-BF33CEDC926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main engineering value is in the scenarios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B09A54CB-5B16-4091-B4DA-DB45E8379E9A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quote">
            <a:extLst>
              <a:ext uri="{FF2B5EF4-FFF2-40B4-BE49-F238E27FC236}">
                <a16:creationId xmlns:a16="http://schemas.microsoft.com/office/drawing/2014/main" id="{8ECC114B-D222-45CF-94A8-6D2BC48109C2}"/>
              </a:ext>
            </a:extLst>
          </p:cNvPr>
          <p:cNvSpPr>
            <a:spLocks noGrp="1"/>
          </p:cNvSpPr>
          <p:nvPr/>
        </p:nvSpPr>
        <p:spPr>
          <a:xfrm>
            <a:off x="1143000" y="1676400"/>
            <a:ext cx="86677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225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“The primary engineering value of use case modeling resides in the use case specifications, not in the use case diagrams.”</a:t>
            </a:r>
          </a:p>
        </p:txBody>
      </p:sp>
      <p:sp>
        <p:nvSpPr>
          <p:cNvPr id="4" name="main-bullets">
            <a:extLst>
              <a:ext uri="{FF2B5EF4-FFF2-40B4-BE49-F238E27FC236}">
                <a16:creationId xmlns:a16="http://schemas.microsoft.com/office/drawing/2014/main" id="{9D647C96-9839-4B38-AB0F-9363154238CB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8191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9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Diagrams are useful because they organize goals around actors.</a:t>
            </a:r>
          </a:p>
          <a:p>
            <a:pPr marL="22" indent="-12" algn="l">
              <a:spcAft>
                <a:spcPts val="9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specification is where engineers discover missing behavior, off-nominal cases, outcomes, and verification needs.</a:t>
            </a:r>
          </a:p>
          <a:p>
            <a:pPr marL="22" indent="-12" algn="l">
              <a:spcAft>
                <a:spcPts val="9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proposal keeps the diagram useful while making the scenario content precise enough for tools.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305935D9-5B5C-454E-8BB2-18684F3EB76F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D8C3813F-A8A7-462F-835F-ECAC3889B2A1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Thesis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9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6120D277-F1F1-4F8A-90DB-C044582F904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Use cases are structured into basic, alternate, and exception scenarios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D9A43A18-54CC-4490-BED8-81FAAA5569F2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8364" y="1200150"/>
            <a:ext cx="7174322" cy="4762500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495B860F-1C0A-410D-8848-C5EF56B92FCB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F2D03FE9-3241-4B74-A8E8-552D2F6CA6B7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Editor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679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D662A469-49A1-43EA-AE43-7D77A70D912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reference editor supports familiar use case notation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1178A68D-2F31-45A3-91A8-D51C548596F2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60270" y="1238250"/>
            <a:ext cx="6576159" cy="3886200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20AC5839-6DEE-4344-8EE3-5768AF504158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C179955F-69EC-4162-8A8C-916F96874D36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Editor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75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-title">
            <a:extLst>
              <a:ext uri="{FF2B5EF4-FFF2-40B4-BE49-F238E27FC236}">
                <a16:creationId xmlns:a16="http://schemas.microsoft.com/office/drawing/2014/main" id="{C7C56EC2-BB37-4E53-82AE-F54A2064D9E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SysML v2 export turns the editor model into tool-readable semantics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2B1B3EF-E7A2-4EDF-A9E4-12F1D744FC71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code-bg">
            <a:extLst>
              <a:ext uri="{FF2B5EF4-FFF2-40B4-BE49-F238E27FC236}">
                <a16:creationId xmlns:a16="http://schemas.microsoft.com/office/drawing/2014/main" id="{ACF49370-09DE-406C-9635-533F99C1C158}"/>
              </a:ext>
            </a:extLst>
          </p:cNvPr>
          <p:cNvSpPr>
            <a:spLocks noGrp="1"/>
          </p:cNvSpPr>
          <p:nvPr/>
        </p:nvSpPr>
        <p:spPr>
          <a:xfrm>
            <a:off x="895350" y="1428750"/>
            <a:ext cx="5334000" cy="3714750"/>
          </a:xfrm>
          <a:prstGeom prst="rect">
            <a:avLst/>
          </a:prstGeom>
          <a:solidFill>
            <a:srgbClr val="F7F9FB"/>
          </a:solidFill>
          <a:ln w="9525">
            <a:solidFill>
              <a:srgbClr val="CAD6E0"/>
            </a:solidFill>
            <a:prstDash val="solid"/>
          </a:ln>
        </p:spPr>
      </p:sp>
      <p:sp>
        <p:nvSpPr>
          <p:cNvPr id="4" name="code">
            <a:extLst>
              <a:ext uri="{FF2B5EF4-FFF2-40B4-BE49-F238E27FC236}">
                <a16:creationId xmlns:a16="http://schemas.microsoft.com/office/drawing/2014/main" id="{D1FA1E99-8ADC-48FD-A1E8-3269E05D122A}"/>
              </a:ext>
            </a:extLst>
          </p:cNvPr>
          <p:cNvSpPr>
            <a:spLocks noGrp="1"/>
          </p:cNvSpPr>
          <p:nvPr/>
        </p:nvSpPr>
        <p:spPr>
          <a:xfrm>
            <a:off x="1085850" y="1638300"/>
            <a:ext cx="4953000" cy="3238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package AccountManagementUseCases {</a:t>
            </a:r>
          </a:p>
          <a:p>
            <a:endParaRPr sz="1125" b="0" i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private import StructuredUseCases::*;</a:t>
            </a:r>
          </a:p>
          <a:p>
            <a:endParaRPr sz="1125" b="0" i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#useCaseActor part user;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#useCaseActor part supportAgent;</a:t>
            </a:r>
          </a:p>
          <a:p>
            <a:endParaRPr sz="1125" b="0" i="0">
              <a:solidFill>
                <a:srgbClr val="111111"/>
              </a:solidFill>
              <a:latin typeface="Calibri"/>
              <a:ea typeface="Calibri"/>
              <a:cs typeface="Calibri"/>
            </a:endParaRP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use case 'Register Account' {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doc /* Primary actor: User */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action 'Basic Scenario' {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#step action '1 User opens registration page' {}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#step action '2 User enters registration information' {}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  first start then '1 User opens registration page';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  }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  }</a:t>
            </a:r>
          </a:p>
          <a:p>
            <a:pPr algn="l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}</a:t>
            </a:r>
          </a:p>
        </p:txBody>
      </p:sp>
      <p:sp>
        <p:nvSpPr>
          <p:cNvPr id="5" name="right-bullets">
            <a:extLst>
              <a:ext uri="{FF2B5EF4-FFF2-40B4-BE49-F238E27FC236}">
                <a16:creationId xmlns:a16="http://schemas.microsoft.com/office/drawing/2014/main" id="{114182BD-9706-4469-8A8C-78B262795CB9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371475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0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export is generated from the structured model, not typed separately.</a:t>
            </a:r>
          </a:p>
          <a:p>
            <a:pPr marL="22" indent="-12" algn="l">
              <a:spcAft>
                <a:spcPts val="10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cases, actors, scenarios, and steps are represented explicitly.</a:t>
            </a:r>
          </a:p>
          <a:p>
            <a:pPr marL="22" indent="-12" algn="l">
              <a:spcAft>
                <a:spcPts val="10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exported text can be imported into a SysML v2 tool for review and analysis.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B0EAE8B8-92C6-4125-934A-27EA9518A865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7" name="footer-section">
            <a:extLst>
              <a:ext uri="{FF2B5EF4-FFF2-40B4-BE49-F238E27FC236}">
                <a16:creationId xmlns:a16="http://schemas.microsoft.com/office/drawing/2014/main" id="{66747B31-7038-4DEC-A9D0-6E309B8C1AC0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Editor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7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9D828CB9-4C4B-4E96-9398-C3893A3E10DB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Cameo import confirms the path into SysML v2 tooling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4B1329E3-D542-4742-8983-F562A20D2ACB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42113"/>
            <a:ext cx="7000875" cy="3688024"/>
          </a:xfrm>
          <a:prstGeom prst="rect">
            <a:avLst/>
          </a:prstGeom>
        </p:spPr>
      </p:pic>
      <p:sp>
        <p:nvSpPr>
          <p:cNvPr id="4" name="right-bullets">
            <a:extLst>
              <a:ext uri="{FF2B5EF4-FFF2-40B4-BE49-F238E27FC236}">
                <a16:creationId xmlns:a16="http://schemas.microsoft.com/office/drawing/2014/main" id="{34138E0A-865D-4189-9155-05C0375F253C}"/>
              </a:ext>
            </a:extLst>
          </p:cNvPr>
          <p:cNvSpPr>
            <a:spLocks noGrp="1"/>
          </p:cNvSpPr>
          <p:nvPr/>
        </p:nvSpPr>
        <p:spPr>
          <a:xfrm>
            <a:off x="8077200" y="1638300"/>
            <a:ext cx="3143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account-management test model was exported from the editor.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It was imported to Cameo using SysML v2.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resulting model elements can be diagrammed, inspected, and queried.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8B52CCEE-1649-406E-9B10-55997C65654D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AAE69C8E-D73F-45F3-A2F3-4E71DC86DDA7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Editor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90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A4661D17-0958-40F2-A219-3CBD4ED0525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interchange path is intentionally simple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42C57BDC-9625-4DDB-A6CC-20D24C5FBEB3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step-dot-1">
            <a:extLst>
              <a:ext uri="{FF2B5EF4-FFF2-40B4-BE49-F238E27FC236}">
                <a16:creationId xmlns:a16="http://schemas.microsoft.com/office/drawing/2014/main" id="{2FC995EB-20CA-4EBA-84D1-E1FB31DA0F5D}"/>
              </a:ext>
            </a:extLst>
          </p:cNvPr>
          <p:cNvSpPr>
            <a:spLocks noGrp="1"/>
          </p:cNvSpPr>
          <p:nvPr/>
        </p:nvSpPr>
        <p:spPr>
          <a:xfrm>
            <a:off x="714375" y="2381250"/>
            <a:ext cx="628650" cy="628650"/>
          </a:xfrm>
          <a:prstGeom prst="ellipse">
            <a:avLst/>
          </a:prstGeom>
          <a:solidFill>
            <a:srgbClr val="005CA9"/>
          </a:solidFill>
          <a:ln w="19050">
            <a:solidFill>
              <a:srgbClr val="005CA9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step-title-1">
            <a:extLst>
              <a:ext uri="{FF2B5EF4-FFF2-40B4-BE49-F238E27FC236}">
                <a16:creationId xmlns:a16="http://schemas.microsoft.com/office/drawing/2014/main" id="{147970E3-AD6D-4A48-9680-74B14FC9EE89}"/>
              </a:ext>
            </a:extLst>
          </p:cNvPr>
          <p:cNvSpPr>
            <a:spLocks noGrp="1"/>
          </p:cNvSpPr>
          <p:nvPr/>
        </p:nvSpPr>
        <p:spPr>
          <a:xfrm>
            <a:off x="371475" y="32766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Author</a:t>
            </a:r>
          </a:p>
        </p:txBody>
      </p:sp>
      <p:sp>
        <p:nvSpPr>
          <p:cNvPr id="5" name="step-copy-1">
            <a:extLst>
              <a:ext uri="{FF2B5EF4-FFF2-40B4-BE49-F238E27FC236}">
                <a16:creationId xmlns:a16="http://schemas.microsoft.com/office/drawing/2014/main" id="{AA83FD11-408D-45A3-A321-974D01A92A35}"/>
              </a:ext>
            </a:extLst>
          </p:cNvPr>
          <p:cNvSpPr>
            <a:spLocks noGrp="1"/>
          </p:cNvSpPr>
          <p:nvPr/>
        </p:nvSpPr>
        <p:spPr>
          <a:xfrm>
            <a:off x="123825" y="3600450"/>
            <a:ext cx="180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Create diagrams and structured specifications</a:t>
            </a:r>
          </a:p>
        </p:txBody>
      </p:sp>
      <p:sp>
        <p:nvSpPr>
          <p:cNvPr id="6" name="step-dot-2">
            <a:extLst>
              <a:ext uri="{FF2B5EF4-FFF2-40B4-BE49-F238E27FC236}">
                <a16:creationId xmlns:a16="http://schemas.microsoft.com/office/drawing/2014/main" id="{F9EFE005-F878-429A-83EE-64A8AD028FB9}"/>
              </a:ext>
            </a:extLst>
          </p:cNvPr>
          <p:cNvSpPr>
            <a:spLocks noGrp="1"/>
          </p:cNvSpPr>
          <p:nvPr/>
        </p:nvSpPr>
        <p:spPr>
          <a:xfrm>
            <a:off x="2924175" y="2381250"/>
            <a:ext cx="628650" cy="628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CA9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31" name="Straight Arrow Connector 30"/>
          <p:cNvCxnSpPr>
            <a:stCxn id="3" idx="6"/>
            <a:endCxn id="6" idx="2"/>
          </p:cNvCxnSpPr>
          <p:nvPr/>
        </p:nvCxnSpPr>
        <p:spPr>
          <a:xfrm>
            <a:off x="1343025" y="2695575"/>
            <a:ext cx="158115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sp>
        <p:nvSpPr>
          <p:cNvPr id="8" name="step-title-2">
            <a:extLst>
              <a:ext uri="{FF2B5EF4-FFF2-40B4-BE49-F238E27FC236}">
                <a16:creationId xmlns:a16="http://schemas.microsoft.com/office/drawing/2014/main" id="{203BEBD8-72E2-4298-9774-A274E919F29B}"/>
              </a:ext>
            </a:extLst>
          </p:cNvPr>
          <p:cNvSpPr>
            <a:spLocks noGrp="1"/>
          </p:cNvSpPr>
          <p:nvPr/>
        </p:nvSpPr>
        <p:spPr>
          <a:xfrm>
            <a:off x="2581275" y="32766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Persist</a:t>
            </a:r>
          </a:p>
        </p:txBody>
      </p:sp>
      <p:sp>
        <p:nvSpPr>
          <p:cNvPr id="9" name="step-copy-2">
            <a:extLst>
              <a:ext uri="{FF2B5EF4-FFF2-40B4-BE49-F238E27FC236}">
                <a16:creationId xmlns:a16="http://schemas.microsoft.com/office/drawing/2014/main" id="{449DA22F-8473-4F2D-820F-AA3E1D02088B}"/>
              </a:ext>
            </a:extLst>
          </p:cNvPr>
          <p:cNvSpPr>
            <a:spLocks noGrp="1"/>
          </p:cNvSpPr>
          <p:nvPr/>
        </p:nvSpPr>
        <p:spPr>
          <a:xfrm>
            <a:off x="2333625" y="3600450"/>
            <a:ext cx="180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Save complete models as .ucm.json</a:t>
            </a:r>
          </a:p>
        </p:txBody>
      </p:sp>
      <p:sp>
        <p:nvSpPr>
          <p:cNvPr id="10" name="step-dot-3">
            <a:extLst>
              <a:ext uri="{FF2B5EF4-FFF2-40B4-BE49-F238E27FC236}">
                <a16:creationId xmlns:a16="http://schemas.microsoft.com/office/drawing/2014/main" id="{22879866-528D-4A3B-BDAC-ECE9FAA1B96D}"/>
              </a:ext>
            </a:extLst>
          </p:cNvPr>
          <p:cNvSpPr>
            <a:spLocks noGrp="1"/>
          </p:cNvSpPr>
          <p:nvPr/>
        </p:nvSpPr>
        <p:spPr>
          <a:xfrm>
            <a:off x="5133975" y="2381250"/>
            <a:ext cx="628650" cy="628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CA9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cxnSp>
        <p:nvCxnSpPr>
          <p:cNvPr id="35" name="Straight Arrow Connector 34"/>
          <p:cNvCxnSpPr>
            <a:stCxn id="6" idx="6"/>
            <a:endCxn id="10" idx="2"/>
          </p:cNvCxnSpPr>
          <p:nvPr/>
        </p:nvCxnSpPr>
        <p:spPr>
          <a:xfrm>
            <a:off x="3552825" y="2695575"/>
            <a:ext cx="158115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sp>
        <p:nvSpPr>
          <p:cNvPr id="12" name="step-title-3">
            <a:extLst>
              <a:ext uri="{FF2B5EF4-FFF2-40B4-BE49-F238E27FC236}">
                <a16:creationId xmlns:a16="http://schemas.microsoft.com/office/drawing/2014/main" id="{1147E126-1DD0-42BC-9443-94BE311FA6E3}"/>
              </a:ext>
            </a:extLst>
          </p:cNvPr>
          <p:cNvSpPr>
            <a:spLocks noGrp="1"/>
          </p:cNvSpPr>
          <p:nvPr/>
        </p:nvSpPr>
        <p:spPr>
          <a:xfrm>
            <a:off x="4791075" y="32766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Export</a:t>
            </a:r>
          </a:p>
        </p:txBody>
      </p:sp>
      <p:sp>
        <p:nvSpPr>
          <p:cNvPr id="13" name="step-copy-3">
            <a:extLst>
              <a:ext uri="{FF2B5EF4-FFF2-40B4-BE49-F238E27FC236}">
                <a16:creationId xmlns:a16="http://schemas.microsoft.com/office/drawing/2014/main" id="{2C59C275-0CBF-4FF5-B2EC-5C093F215AFF}"/>
              </a:ext>
            </a:extLst>
          </p:cNvPr>
          <p:cNvSpPr>
            <a:spLocks noGrp="1"/>
          </p:cNvSpPr>
          <p:nvPr/>
        </p:nvSpPr>
        <p:spPr>
          <a:xfrm>
            <a:off x="4543425" y="3600450"/>
            <a:ext cx="180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Generate SysML v2 textual notation</a:t>
            </a:r>
          </a:p>
        </p:txBody>
      </p:sp>
      <p:sp>
        <p:nvSpPr>
          <p:cNvPr id="14" name="step-dot-4">
            <a:extLst>
              <a:ext uri="{FF2B5EF4-FFF2-40B4-BE49-F238E27FC236}">
                <a16:creationId xmlns:a16="http://schemas.microsoft.com/office/drawing/2014/main" id="{9005B787-8E6A-4917-97BF-9D34A87A75BE}"/>
              </a:ext>
            </a:extLst>
          </p:cNvPr>
          <p:cNvSpPr>
            <a:spLocks noGrp="1"/>
          </p:cNvSpPr>
          <p:nvPr/>
        </p:nvSpPr>
        <p:spPr>
          <a:xfrm>
            <a:off x="7343775" y="2381250"/>
            <a:ext cx="628650" cy="628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CA9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cxnSp>
        <p:nvCxnSpPr>
          <p:cNvPr id="39" name="Straight Arrow Connector 38"/>
          <p:cNvCxnSpPr>
            <a:stCxn id="10" idx="6"/>
            <a:endCxn id="14" idx="2"/>
          </p:cNvCxnSpPr>
          <p:nvPr/>
        </p:nvCxnSpPr>
        <p:spPr>
          <a:xfrm>
            <a:off x="5762625" y="2695575"/>
            <a:ext cx="158115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sp>
        <p:nvSpPr>
          <p:cNvPr id="16" name="step-title-4">
            <a:extLst>
              <a:ext uri="{FF2B5EF4-FFF2-40B4-BE49-F238E27FC236}">
                <a16:creationId xmlns:a16="http://schemas.microsoft.com/office/drawing/2014/main" id="{2164165C-3EE3-4289-95A7-A87F5C71FE93}"/>
              </a:ext>
            </a:extLst>
          </p:cNvPr>
          <p:cNvSpPr>
            <a:spLocks noGrp="1"/>
          </p:cNvSpPr>
          <p:nvPr/>
        </p:nvSpPr>
        <p:spPr>
          <a:xfrm>
            <a:off x="7000875" y="32766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Import</a:t>
            </a:r>
          </a:p>
        </p:txBody>
      </p:sp>
      <p:sp>
        <p:nvSpPr>
          <p:cNvPr id="17" name="step-copy-4">
            <a:extLst>
              <a:ext uri="{FF2B5EF4-FFF2-40B4-BE49-F238E27FC236}">
                <a16:creationId xmlns:a16="http://schemas.microsoft.com/office/drawing/2014/main" id="{4C8B7E76-7AF6-4B83-941A-2F12C3829609}"/>
              </a:ext>
            </a:extLst>
          </p:cNvPr>
          <p:cNvSpPr>
            <a:spLocks noGrp="1"/>
          </p:cNvSpPr>
          <p:nvPr/>
        </p:nvSpPr>
        <p:spPr>
          <a:xfrm>
            <a:off x="6753225" y="3600450"/>
            <a:ext cx="180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Load semantic model content into Cameo</a:t>
            </a:r>
          </a:p>
        </p:txBody>
      </p:sp>
      <p:sp>
        <p:nvSpPr>
          <p:cNvPr id="18" name="step-dot-5">
            <a:extLst>
              <a:ext uri="{FF2B5EF4-FFF2-40B4-BE49-F238E27FC236}">
                <a16:creationId xmlns:a16="http://schemas.microsoft.com/office/drawing/2014/main" id="{97AAEEBC-AF6A-4C27-8C5C-0118E589909C}"/>
              </a:ext>
            </a:extLst>
          </p:cNvPr>
          <p:cNvSpPr>
            <a:spLocks noGrp="1"/>
          </p:cNvSpPr>
          <p:nvPr/>
        </p:nvSpPr>
        <p:spPr>
          <a:xfrm>
            <a:off x="9553575" y="2381250"/>
            <a:ext cx="628650" cy="628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CA9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cxnSp>
        <p:nvCxnSpPr>
          <p:cNvPr id="43" name="Straight Arrow Connector 42"/>
          <p:cNvCxnSpPr>
            <a:stCxn id="14" idx="6"/>
            <a:endCxn id="18" idx="2"/>
          </p:cNvCxnSpPr>
          <p:nvPr/>
        </p:nvCxnSpPr>
        <p:spPr>
          <a:xfrm>
            <a:off x="7972425" y="2695575"/>
            <a:ext cx="158115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sp>
        <p:nvSpPr>
          <p:cNvPr id="20" name="step-title-5">
            <a:extLst>
              <a:ext uri="{FF2B5EF4-FFF2-40B4-BE49-F238E27FC236}">
                <a16:creationId xmlns:a16="http://schemas.microsoft.com/office/drawing/2014/main" id="{064CC920-1715-4469-BB29-C90620CCC5E0}"/>
              </a:ext>
            </a:extLst>
          </p:cNvPr>
          <p:cNvSpPr>
            <a:spLocks noGrp="1"/>
          </p:cNvSpPr>
          <p:nvPr/>
        </p:nvSpPr>
        <p:spPr>
          <a:xfrm>
            <a:off x="9210675" y="327660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Analyze</a:t>
            </a:r>
          </a:p>
        </p:txBody>
      </p:sp>
      <p:sp>
        <p:nvSpPr>
          <p:cNvPr id="21" name="step-copy-5">
            <a:extLst>
              <a:ext uri="{FF2B5EF4-FFF2-40B4-BE49-F238E27FC236}">
                <a16:creationId xmlns:a16="http://schemas.microsoft.com/office/drawing/2014/main" id="{81E0AB74-A366-4E88-A3DF-238CD10439B3}"/>
              </a:ext>
            </a:extLst>
          </p:cNvPr>
          <p:cNvSpPr>
            <a:spLocks noGrp="1"/>
          </p:cNvSpPr>
          <p:nvPr/>
        </p:nvSpPr>
        <p:spPr>
          <a:xfrm>
            <a:off x="8963025" y="3600450"/>
            <a:ext cx="1809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Run queries over explicit behavior</a:t>
            </a:r>
          </a:p>
        </p:txBody>
      </p:sp>
      <p:sp>
        <p:nvSpPr>
          <p:cNvPr id="22" name="copyright">
            <a:extLst>
              <a:ext uri="{FF2B5EF4-FFF2-40B4-BE49-F238E27FC236}">
                <a16:creationId xmlns:a16="http://schemas.microsoft.com/office/drawing/2014/main" id="{00D6F5CD-8860-41FC-BE57-088EF5079147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23" name="footer-section">
            <a:extLst>
              <a:ext uri="{FF2B5EF4-FFF2-40B4-BE49-F238E27FC236}">
                <a16:creationId xmlns:a16="http://schemas.microsoft.com/office/drawing/2014/main" id="{6DFEC183-E36A-491F-AF87-61B621AF209E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Interchange</a:t>
            </a: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7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5BFBFBF1-5910-4D81-B4CC-4441F39AA0B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library adds use case meaning as SysML v2 metadata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8D3220C4-8481-4CD3-8059-331A6FC4DD4D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418421"/>
            <a:ext cx="6572250" cy="3811609"/>
          </a:xfrm>
          <a:prstGeom prst="rect">
            <a:avLst/>
          </a:prstGeom>
        </p:spPr>
      </p:pic>
      <p:sp>
        <p:nvSpPr>
          <p:cNvPr id="4" name="metadata-bullets">
            <a:extLst>
              <a:ext uri="{FF2B5EF4-FFF2-40B4-BE49-F238E27FC236}">
                <a16:creationId xmlns:a16="http://schemas.microsoft.com/office/drawing/2014/main" id="{B813F292-BC58-48B1-9786-3837CC8F51EB}"/>
              </a:ext>
            </a:extLst>
          </p:cNvPr>
          <p:cNvSpPr>
            <a:spLocks noGrp="1"/>
          </p:cNvSpPr>
          <p:nvPr/>
        </p:nvSpPr>
        <p:spPr>
          <a:xfrm>
            <a:off x="7620000" y="1524000"/>
            <a:ext cx="342900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library extends native SysML v2 semantics instead of creating a parallel vocabulary.</a:t>
            </a:r>
          </a:p>
          <a:p>
            <a:pPr marL="22" indent="-12" algn="l">
              <a:spcAft>
                <a:spcPts val="8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StructuredUseCase, UseCaseScenario, and UseCaseStep preserve their underlying SysML element types.</a:t>
            </a:r>
          </a:p>
          <a:p>
            <a:pPr marL="22" indent="-12" algn="l">
              <a:spcAft>
                <a:spcPts val="8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Scenario and step identifiers support review, navigation, documentation, and renumbering.</a:t>
            </a:r>
          </a:p>
          <a:p>
            <a:pPr marL="22" indent="-12" algn="l">
              <a:spcAft>
                <a:spcPts val="8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single precondition applies to the complete use case; each scenario can define its own postcondition.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A2ACCE33-D4EF-4C5A-8179-7AC5E0DAFCE4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E336BE81-00BD-482E-88BD-689CB7A18A20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Library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9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57A96778-E479-4F32-922A-C96100BF6FF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A structured use case captures nominal and off-nominal behavior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BA9F9593-538B-4D1E-A832-2B7EC89A3CA4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" y="1362031"/>
            <a:ext cx="7953375" cy="3867237"/>
          </a:xfrm>
          <a:prstGeom prst="rect">
            <a:avLst/>
          </a:prstGeom>
        </p:spPr>
      </p:pic>
      <p:sp>
        <p:nvSpPr>
          <p:cNvPr id="4" name="scenario-bullets">
            <a:extLst>
              <a:ext uri="{FF2B5EF4-FFF2-40B4-BE49-F238E27FC236}">
                <a16:creationId xmlns:a16="http://schemas.microsoft.com/office/drawing/2014/main" id="{240A0E37-0D64-4ADC-97AE-F62D3ADBD6C0}"/>
              </a:ext>
            </a:extLst>
          </p:cNvPr>
          <p:cNvSpPr>
            <a:spLocks noGrp="1"/>
          </p:cNvSpPr>
          <p:nvPr/>
        </p:nvSpPr>
        <p:spPr>
          <a:xfrm>
            <a:off x="8810625" y="1581150"/>
            <a:ext cx="26479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basic path, alternate paths, and exception paths are model elements.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Steps preserve sequence, branch-after, and rejoin-before semantics.</a:t>
            </a:r>
          </a:p>
          <a:p>
            <a:pPr marL="22" indent="-12" algn="l">
              <a:spcAft>
                <a:spcPts val="11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Each off-nominal scenario can carry its own postcondition.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581E19B9-8797-4654-B5D5-B1BCE9FB42FF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10837397-0EFE-4576-80C3-7AFAB5F483BB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Scenarios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17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54C51B37-5B25-4587-9C90-BB652FB65C07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The library and editor are open source on OpenMBEE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45BD4B02-4355-4BBB-95EE-9EE0CA714751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88744"/>
            <a:ext cx="5143500" cy="306136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62700" y="1469152"/>
            <a:ext cx="5143500" cy="3100545"/>
          </a:xfrm>
          <a:prstGeom prst="rect">
            <a:avLst/>
          </a:prstGeom>
        </p:spPr>
      </p:pic>
      <p:sp>
        <p:nvSpPr>
          <p:cNvPr id="5" name="left-label">
            <a:extLst>
              <a:ext uri="{FF2B5EF4-FFF2-40B4-BE49-F238E27FC236}">
                <a16:creationId xmlns:a16="http://schemas.microsoft.com/office/drawing/2014/main" id="{F23F1B94-4EE9-41A4-8183-95DF5FDEAAFE}"/>
              </a:ext>
            </a:extLst>
          </p:cNvPr>
          <p:cNvSpPr>
            <a:spLocks noGrp="1"/>
          </p:cNvSpPr>
          <p:nvPr/>
        </p:nvSpPr>
        <p:spPr>
          <a:xfrm>
            <a:off x="876300" y="49911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35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Structured Use Cases library</a:t>
            </a:r>
          </a:p>
        </p:txBody>
      </p:sp>
      <p:sp>
        <p:nvSpPr>
          <p:cNvPr id="6" name="right-label">
            <a:extLst>
              <a:ext uri="{FF2B5EF4-FFF2-40B4-BE49-F238E27FC236}">
                <a16:creationId xmlns:a16="http://schemas.microsoft.com/office/drawing/2014/main" id="{DBCFFAB0-8F09-4C7E-B273-595663AAA75F}"/>
              </a:ext>
            </a:extLst>
          </p:cNvPr>
          <p:cNvSpPr>
            <a:spLocks noGrp="1"/>
          </p:cNvSpPr>
          <p:nvPr/>
        </p:nvSpPr>
        <p:spPr>
          <a:xfrm>
            <a:off x="6553200" y="49911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1350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Structured Use Case Editor</a:t>
            </a:r>
          </a:p>
        </p:txBody>
      </p:sp>
      <p:sp>
        <p:nvSpPr>
          <p:cNvPr id="7" name="repo-bullets">
            <a:extLst>
              <a:ext uri="{FF2B5EF4-FFF2-40B4-BE49-F238E27FC236}">
                <a16:creationId xmlns:a16="http://schemas.microsoft.com/office/drawing/2014/main" id="{01888F3A-C15A-4552-A8E0-AD7697688CA1}"/>
              </a:ext>
            </a:extLst>
          </p:cNvPr>
          <p:cNvSpPr>
            <a:spLocks noGrp="1"/>
          </p:cNvSpPr>
          <p:nvPr/>
        </p:nvSpPr>
        <p:spPr>
          <a:xfrm>
            <a:off x="1371600" y="5410200"/>
            <a:ext cx="942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5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proposal library and prototype editor are both publicly available under the OpenMBEE organization.</a:t>
            </a:r>
          </a:p>
          <a:p>
            <a:pPr marL="22" indent="-12" algn="l">
              <a:spcAft>
                <a:spcPts val="5"/>
              </a:spcAft>
              <a:buChar char="•"/>
              <a:def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repositories provide the SysML v2 library, examples, documentation, and reference implementation.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771F17E3-639F-4E25-8D1B-A75FCEE58FBD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9" name="footer-section">
            <a:extLst>
              <a:ext uri="{FF2B5EF4-FFF2-40B4-BE49-F238E27FC236}">
                <a16:creationId xmlns:a16="http://schemas.microsoft.com/office/drawing/2014/main" id="{3CFE364D-76A0-4BDF-A1B3-6A6AF98535ED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Open source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97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p-rule">
            <a:extLst>
              <a:ext uri="{FF2B5EF4-FFF2-40B4-BE49-F238E27FC236}">
                <a16:creationId xmlns:a16="http://schemas.microsoft.com/office/drawing/2014/main" id="{CA3F4578-2674-4EF3-BBAE-23E65D4FB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2" name="section-kicker">
            <a:extLst>
              <a:ext uri="{FF2B5EF4-FFF2-40B4-BE49-F238E27FC236}">
                <a16:creationId xmlns:a16="http://schemas.microsoft.com/office/drawing/2014/main" id="{E8A1F6D9-4859-476F-B1CE-4CB4C4B88FD0}"/>
              </a:ext>
            </a:extLst>
          </p:cNvPr>
          <p:cNvSpPr>
            <a:spLocks noGrp="1"/>
          </p:cNvSpPr>
          <p:nvPr/>
        </p:nvSpPr>
        <p:spPr>
          <a:xfrm>
            <a:off x="0" y="2362200"/>
            <a:ext cx="1219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8765"/>
          </a:bodyPr>
          <a:lstStyle/>
          <a:p>
            <a:pPr algn="ctr">
              <a:defRPr sz="2025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sp>
        <p:nvSpPr>
          <p:cNvPr id="3" name="section-title">
            <a:extLst>
              <a:ext uri="{FF2B5EF4-FFF2-40B4-BE49-F238E27FC236}">
                <a16:creationId xmlns:a16="http://schemas.microsoft.com/office/drawing/2014/main" id="{E9A8C907-CC78-4E7A-ADB4-3A87ADE37D70}"/>
              </a:ext>
            </a:extLst>
          </p:cNvPr>
          <p:cNvSpPr>
            <a:spLocks noGrp="1"/>
          </p:cNvSpPr>
          <p:nvPr/>
        </p:nvSpPr>
        <p:spPr>
          <a:xfrm>
            <a:off x="0" y="2876550"/>
            <a:ext cx="1219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28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case behavior becomes testable model structure</a:t>
            </a:r>
          </a:p>
        </p:txBody>
      </p:sp>
      <p:sp>
        <p:nvSpPr>
          <p:cNvPr id="4" name="center-rule">
            <a:extLst>
              <a:ext uri="{FF2B5EF4-FFF2-40B4-BE49-F238E27FC236}">
                <a16:creationId xmlns:a16="http://schemas.microsoft.com/office/drawing/2014/main" id="{F8BD6C0A-2354-469D-8EA9-48316206E0B3}"/>
              </a:ext>
            </a:extLst>
          </p:cNvPr>
          <p:cNvSpPr>
            <a:spLocks noGrp="1"/>
          </p:cNvSpPr>
          <p:nvPr/>
        </p:nvSpPr>
        <p:spPr>
          <a:xfrm>
            <a:off x="4972050" y="3619500"/>
            <a:ext cx="224790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AE6E19A7-5B9A-4E58-9AFF-9CB888317994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0F5CBDD0-44C5-4DD7-AC50-8079E160C860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19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>
            <a:extLst>
              <a:ext uri="{FF2B5EF4-FFF2-40B4-BE49-F238E27FC236}">
                <a16:creationId xmlns:a16="http://schemas.microsoft.com/office/drawing/2014/main" id="{B6C37A14-69E6-4D7D-9470-01365FDE433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Testing fails when off-nominal scenarios are missed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5FB17CF-E958-460B-9C40-19BC5A0CC7F1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testing-quote">
            <a:extLst>
              <a:ext uri="{FF2B5EF4-FFF2-40B4-BE49-F238E27FC236}">
                <a16:creationId xmlns:a16="http://schemas.microsoft.com/office/drawing/2014/main" id="{00A6C127-CE49-449F-BE37-C9BB8058407F}"/>
              </a:ext>
            </a:extLst>
          </p:cNvPr>
          <p:cNvSpPr>
            <a:spLocks noGrp="1"/>
          </p:cNvSpPr>
          <p:nvPr/>
        </p:nvSpPr>
        <p:spPr>
          <a:xfrm>
            <a:off x="457200" y="2038350"/>
            <a:ext cx="11277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2025" b="1" i="0">
                <a:solidFill>
                  <a:srgbClr val="00427A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00427A"/>
                </a:solidFill>
                <a:latin typeface="Calibri"/>
                <a:ea typeface="Calibri"/>
                <a:cs typeface="Calibri"/>
              </a:rPr>
              <a:t>“The biggest problem with testing is failure to test the off-nominal scenarios.”</a:t>
            </a:r>
          </a:p>
        </p:txBody>
      </p:sp>
      <p:sp>
        <p:nvSpPr>
          <p:cNvPr id="4" name="testing-bullets">
            <a:extLst>
              <a:ext uri="{FF2B5EF4-FFF2-40B4-BE49-F238E27FC236}">
                <a16:creationId xmlns:a16="http://schemas.microsoft.com/office/drawing/2014/main" id="{672D035A-8578-48C3-8A91-C71457ABC6ED}"/>
              </a:ext>
            </a:extLst>
          </p:cNvPr>
          <p:cNvSpPr>
            <a:spLocks noGrp="1"/>
          </p:cNvSpPr>
          <p:nvPr/>
        </p:nvSpPr>
        <p:spPr>
          <a:xfrm>
            <a:off x="1952625" y="3733800"/>
            <a:ext cx="7239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SysML v2 verification cases only support testing of requirements.</a:t>
            </a:r>
          </a:p>
          <a:p>
            <a:pPr marL="22" indent="-12" algn="l">
              <a:spcAft>
                <a:spcPts val="8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That explicit behavior can be traced to scenario-level verification.</a:t>
            </a:r>
          </a:p>
          <a:p>
            <a:pPr marL="22" indent="-12" algn="l">
              <a:spcAft>
                <a:spcPts val="8"/>
              </a:spcAft>
              <a:buChar char="•"/>
              <a:def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same semantics can support coverage analysis and test generation.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FC3152B8-6B2E-4D6E-ADEB-894466B85A29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0EED0653-C900-4A5A-BE17-D3300F31092A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88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5801CAB5-F7F7-454D-B8F6-E49E696AE273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Use case-driven testing has a long pedigree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6559B794-6B26-4312-A949-1099A4BA0FCB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314450"/>
            <a:ext cx="6858000" cy="3657600"/>
          </a:xfrm>
          <a:prstGeom prst="rect">
            <a:avLst/>
          </a:prstGeom>
        </p:spPr>
      </p:pic>
      <p:sp>
        <p:nvSpPr>
          <p:cNvPr id="4" name="right-bullets">
            <a:extLst>
              <a:ext uri="{FF2B5EF4-FFF2-40B4-BE49-F238E27FC236}">
                <a16:creationId xmlns:a16="http://schemas.microsoft.com/office/drawing/2014/main" id="{5FBF66EE-4EDB-44A5-9B36-8F0E70495507}"/>
              </a:ext>
            </a:extLst>
          </p:cNvPr>
          <p:cNvSpPr>
            <a:spLocks noGrp="1"/>
          </p:cNvSpPr>
          <p:nvPr/>
        </p:nvSpPr>
        <p:spPr>
          <a:xfrm>
            <a:off x="8096250" y="1562100"/>
            <a:ext cx="31432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2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Jacobson et al. connected use case tests to system test strategy as far back as 1992.</a:t>
            </a:r>
          </a:p>
          <a:p>
            <a:pPr marL="22" indent="-12" algn="l">
              <a:spcAft>
                <a:spcPts val="12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v0.9 proposal carries that idea into explicit SysML v2 semantics.</a:t>
            </a:r>
          </a:p>
          <a:p>
            <a:pPr marL="22" indent="-12" algn="l">
              <a:spcAft>
                <a:spcPts val="12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 new contribution is queryability: the model can reveal which behavior has not been tested.</a:t>
            </a:r>
          </a:p>
        </p:txBody>
      </p:sp>
      <p:sp>
        <p:nvSpPr>
          <p:cNvPr id="5" name="jacobson-source">
            <a:extLst>
              <a:ext uri="{FF2B5EF4-FFF2-40B4-BE49-F238E27FC236}">
                <a16:creationId xmlns:a16="http://schemas.microsoft.com/office/drawing/2014/main" id="{BAED35CB-95F6-462B-9BA1-774041A4DEF0}"/>
              </a:ext>
            </a:extLst>
          </p:cNvPr>
          <p:cNvSpPr>
            <a:spLocks noGrp="1"/>
          </p:cNvSpPr>
          <p:nvPr/>
        </p:nvSpPr>
        <p:spPr>
          <a:xfrm>
            <a:off x="952500" y="51054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84317"/>
          </a:bodyPr>
          <a:lstStyle/>
          <a:p>
            <a:pPr algn="l">
              <a:defRPr sz="1125" b="0" i="1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Adapted from Ivar Jacobson et al., Object-Oriented Software Engineering: A Use Case Driven Approach, 1992, Figure 15-4.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136B63EB-6DE8-4DFB-ADBF-D1FF654D600B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7" name="footer-section">
            <a:extLst>
              <a:ext uri="{FF2B5EF4-FFF2-40B4-BE49-F238E27FC236}">
                <a16:creationId xmlns:a16="http://schemas.microsoft.com/office/drawing/2014/main" id="{2830C942-956E-4D17-93E4-3BDF9C7CA7A0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77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>
            <a:extLst>
              <a:ext uri="{FF2B5EF4-FFF2-40B4-BE49-F238E27FC236}">
                <a16:creationId xmlns:a16="http://schemas.microsoft.com/office/drawing/2014/main" id="{BFAC6D01-ABD2-4E40-A25C-3040BAE6AB38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Structured Testing adds behavioral coverage semantics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E33CEE74-FFF8-4AAC-B836-67ADD9DCA390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left-heading">
            <a:extLst>
              <a:ext uri="{FF2B5EF4-FFF2-40B4-BE49-F238E27FC236}">
                <a16:creationId xmlns:a16="http://schemas.microsoft.com/office/drawing/2014/main" id="{408B9831-D294-4447-968C-7D7B55ED5041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0909"/>
          </a:bodyPr>
          <a:lstStyle/>
          <a:p>
            <a:pPr algn="l">
              <a:defRPr sz="16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Native SysML v2</a:t>
            </a:r>
          </a:p>
        </p:txBody>
      </p:sp>
      <p:sp>
        <p:nvSpPr>
          <p:cNvPr id="4" name="right-heading">
            <a:extLst>
              <a:ext uri="{FF2B5EF4-FFF2-40B4-BE49-F238E27FC236}">
                <a16:creationId xmlns:a16="http://schemas.microsoft.com/office/drawing/2014/main" id="{811A056B-10B4-4C21-9F65-FB10A8DBEA9B}"/>
              </a:ext>
            </a:extLst>
          </p:cNvPr>
          <p:cNvSpPr>
            <a:spLocks noGrp="1"/>
          </p:cNvSpPr>
          <p:nvPr/>
        </p:nvSpPr>
        <p:spPr>
          <a:xfrm>
            <a:off x="6915150" y="13525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0909"/>
          </a:bodyPr>
          <a:lstStyle/>
          <a:p>
            <a:pPr algn="l">
              <a:defRPr sz="16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Proposed extension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1AC6F26F-8CCD-4B39-8044-74ACDE6062A9}"/>
              </a:ext>
            </a:extLst>
          </p:cNvPr>
          <p:cNvSpPr>
            <a:spLocks noGrp="1"/>
          </p:cNvSpPr>
          <p:nvPr/>
        </p:nvSpPr>
        <p:spPr>
          <a:xfrm>
            <a:off x="6096000" y="1381125"/>
            <a:ext cx="19050" cy="4000500"/>
          </a:xfrm>
          <a:prstGeom prst="rect">
            <a:avLst/>
          </a:prstGeom>
          <a:solidFill>
            <a:srgbClr val="D7DCE2"/>
          </a:solidFill>
          <a:ln w="0">
            <a:solidFill>
              <a:srgbClr val="D7DCE2"/>
            </a:solidFill>
            <a:prstDash val="solid"/>
          </a:ln>
        </p:spPr>
      </p:sp>
      <p:sp>
        <p:nvSpPr>
          <p:cNvPr id="6" name="left-bullets">
            <a:extLst>
              <a:ext uri="{FF2B5EF4-FFF2-40B4-BE49-F238E27FC236}">
                <a16:creationId xmlns:a16="http://schemas.microsoft.com/office/drawing/2014/main" id="{09F1BBAE-EA2F-4C3A-B4EE-89883A83351D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45720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Verification Cases verify Requirements.</a:t>
            </a:r>
          </a:p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Requirement verification remains essential.</a:t>
            </a:r>
          </a:p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Native semantics do not directly identify the use case scenario being exercised.</a:t>
            </a:r>
          </a:p>
        </p:txBody>
      </p:sp>
      <p:sp>
        <p:nvSpPr>
          <p:cNvPr id="7" name="right-bullets">
            <a:extLst>
              <a:ext uri="{FF2B5EF4-FFF2-40B4-BE49-F238E27FC236}">
                <a16:creationId xmlns:a16="http://schemas.microsoft.com/office/drawing/2014/main" id="{ED9C8B25-D0B8-4DBA-8484-52AB2272A6F6}"/>
              </a:ext>
            </a:extLst>
          </p:cNvPr>
          <p:cNvSpPr>
            <a:spLocks noGrp="1"/>
          </p:cNvSpPr>
          <p:nvPr/>
        </p:nvSpPr>
        <p:spPr>
          <a:xfrm>
            <a:off x="6915150" y="1952625"/>
            <a:ext cx="4572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StructuredTestCase specializes VerificationCase.</a:t>
            </a:r>
          </a:p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TestScenario specializes UseCaseScenario.</a:t>
            </a:r>
          </a:p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TestStep specializes UseCaseStep.</a:t>
            </a:r>
          </a:p>
          <a:p>
            <a:pPr marL="22" indent="-12" algn="l">
              <a:spcAft>
                <a:spcPts val="12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VerifyUseCase and VerifyScenario make behavioral coverage queryable.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F87A8FFC-4420-4964-9A39-481149C9AC19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9" name="footer-section">
            <a:extLst>
              <a:ext uri="{FF2B5EF4-FFF2-40B4-BE49-F238E27FC236}">
                <a16:creationId xmlns:a16="http://schemas.microsoft.com/office/drawing/2014/main" id="{F76B0971-6588-42E9-B7C1-AA7935FFED67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02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4318B25C-FCAA-48BC-BD32-2DFD7E5C76C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Verification relationships make use case coverage explicit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2D38B0AD-FE32-4A9E-A0C7-E1813DBDA21C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9403" y="1428750"/>
            <a:ext cx="6239793" cy="3905250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6F67D5B-1825-4598-B219-C5D32A7A57D9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8249D6ED-A9EC-4719-B1C9-C36A5C2781C2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09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917B1D64-ABBB-4A77-94E8-6BB3D6E22F89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Scenario-level verification exposes coverage gaps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6261F2B1-8AB0-4AF7-812E-CBCBDF189C84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8832" y="1466850"/>
            <a:ext cx="10633336" cy="2647950"/>
          </a:xfrm>
          <a:prstGeom prst="rect">
            <a:avLst/>
          </a:prstGeom>
        </p:spPr>
      </p:pic>
      <p:sp>
        <p:nvSpPr>
          <p:cNvPr id="4" name="bottom-bullets">
            <a:extLst>
              <a:ext uri="{FF2B5EF4-FFF2-40B4-BE49-F238E27FC236}">
                <a16:creationId xmlns:a16="http://schemas.microsoft.com/office/drawing/2014/main" id="{D18DD4FC-EF93-410B-AA1C-C7BBEE9102DA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885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2"/>
              </a:spcAft>
              <a:buChar char="•"/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Basic, alternate, and exception scenarios can each have a corresponding Test Scenario.</a:t>
            </a:r>
          </a:p>
          <a:p>
            <a:pPr marL="22" indent="-12" algn="l">
              <a:spcAft>
                <a:spcPts val="12"/>
              </a:spcAft>
              <a:buChar char="•"/>
              <a:def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Queries can ask which alternate and exception scenarios do not participate in VerifyScenario.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6523C244-883B-4749-B05A-6017A062FB2F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D9D60286-A76B-4603-B1DD-4DE7366380E6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8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3D7B679F-4F14-4D5C-95A6-310D83489C42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Thread expansion creates end-to-end behavioral tests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2693F140-D36A-42DB-8380-618F2F9AC98C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054" y="1219200"/>
            <a:ext cx="7523143" cy="5000625"/>
          </a:xfrm>
          <a:prstGeom prst="rect">
            <a:avLst/>
          </a:prstGeom>
        </p:spPr>
      </p:pic>
      <p:sp>
        <p:nvSpPr>
          <p:cNvPr id="4" name="right-bullets">
            <a:extLst>
              <a:ext uri="{FF2B5EF4-FFF2-40B4-BE49-F238E27FC236}">
                <a16:creationId xmlns:a16="http://schemas.microsoft.com/office/drawing/2014/main" id="{41C085B8-28C3-4738-9EF1-C116E86644A1}"/>
              </a:ext>
            </a:extLst>
          </p:cNvPr>
          <p:cNvSpPr>
            <a:spLocks noGrp="1"/>
          </p:cNvSpPr>
          <p:nvPr/>
        </p:nvSpPr>
        <p:spPr>
          <a:xfrm>
            <a:off x="8334375" y="1524000"/>
            <a:ext cx="2952750" cy="342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1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Start with the basic scenario.</a:t>
            </a:r>
          </a:p>
          <a:p>
            <a:pPr marL="22" indent="-12" algn="l">
              <a:spcAft>
                <a:spcPts val="11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Follow each reachable alternate and exception branch.</a:t>
            </a:r>
          </a:p>
          <a:p>
            <a:pPr marL="22" indent="-12" algn="l">
              <a:spcAft>
                <a:spcPts val="11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Resume at rejoin points when specified.</a:t>
            </a:r>
          </a:p>
          <a:p>
            <a:pPr marL="22" indent="-12" algn="l">
              <a:spcAft>
                <a:spcPts val="11"/>
              </a:spcAft>
              <a:buChar char="•"/>
              <a:def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Return ordered steps, traversed scenarios, terminal postcondition, and trace identifiers.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B73B9613-AAA5-4F0F-8B21-CED4EAB40F25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0F5D2CF7-3071-4E79-A5BA-9A0188AD7975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98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20D1790C-BCC2-40A2-BF2C-05821AEAC2B5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Semantic behavior is queryable engineering information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DB96B268-8F73-400A-B266-EC4800AD0AB9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node-Unstructured prose">
            <a:extLst>
              <a:ext uri="{FF2B5EF4-FFF2-40B4-BE49-F238E27FC236}">
                <a16:creationId xmlns:a16="http://schemas.microsoft.com/office/drawing/2014/main" id="{901A5F2D-F270-49C5-9420-5B81814C5661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24765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4288">
            <a:solidFill>
              <a:srgbClr val="63666A"/>
            </a:solidFill>
            <a:prstDash val="solid"/>
          </a:ln>
        </p:spPr>
        <p:txBody>
          <a:bodyPr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Unstructured prose</a:t>
            </a:r>
          </a:p>
        </p:txBody>
      </p:sp>
      <p:sp>
        <p:nvSpPr>
          <p:cNvPr id="4" name="node-Structured SysML v2 semantics">
            <a:extLst>
              <a:ext uri="{FF2B5EF4-FFF2-40B4-BE49-F238E27FC236}">
                <a16:creationId xmlns:a16="http://schemas.microsoft.com/office/drawing/2014/main" id="{DCEFD5C9-3E36-4C82-84CA-03DAF6F5119C}"/>
              </a:ext>
            </a:extLst>
          </p:cNvPr>
          <p:cNvSpPr>
            <a:spLocks noGrp="1"/>
          </p:cNvSpPr>
          <p:nvPr/>
        </p:nvSpPr>
        <p:spPr>
          <a:xfrm>
            <a:off x="4857750" y="2000250"/>
            <a:ext cx="2857500" cy="609600"/>
          </a:xfrm>
          <a:prstGeom prst="roundRect">
            <a:avLst>
              <a:gd name="adj" fmla="val 9375"/>
            </a:avLst>
          </a:prstGeom>
          <a:solidFill>
            <a:srgbClr val="E8F2FB"/>
          </a:solidFill>
          <a:ln w="14288">
            <a:solidFill>
              <a:srgbClr val="005CA9"/>
            </a:solidFill>
            <a:prstDash val="solid"/>
          </a:ln>
        </p:spPr>
        <p:txBody>
          <a:bodyPr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Structured SysML v2 semantics</a:t>
            </a:r>
          </a:p>
        </p:txBody>
      </p:sp>
      <p:sp>
        <p:nvSpPr>
          <p:cNvPr id="5" name="node-Queries, tests, traces, and transformations">
            <a:extLst>
              <a:ext uri="{FF2B5EF4-FFF2-40B4-BE49-F238E27FC236}">
                <a16:creationId xmlns:a16="http://schemas.microsoft.com/office/drawing/2014/main" id="{D0E4E234-7380-470B-AB31-3633EBF19434}"/>
              </a:ext>
            </a:extLst>
          </p:cNvPr>
          <p:cNvSpPr>
            <a:spLocks noGrp="1"/>
          </p:cNvSpPr>
          <p:nvPr/>
        </p:nvSpPr>
        <p:spPr>
          <a:xfrm>
            <a:off x="8858250" y="2000250"/>
            <a:ext cx="247650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4288">
            <a:solidFill>
              <a:srgbClr val="005CA9"/>
            </a:solidFill>
            <a:prstDash val="solid"/>
          </a:ln>
        </p:spPr>
        <p:txBody>
          <a:bodyPr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Queries, tests, traces, and transformations</a:t>
            </a:r>
          </a:p>
        </p:txBody>
      </p:sp>
      <p:cxnSp>
        <p:nvCxnSpPr>
          <p:cNvPr id="17" name="Straight Arrow Connector 16"/>
          <p:cNvCxnSpPr>
            <a:stCxn id="3" idx="3"/>
            <a:endCxn id="4" idx="1"/>
          </p:cNvCxnSpPr>
          <p:nvPr/>
        </p:nvCxnSpPr>
        <p:spPr>
          <a:xfrm>
            <a:off x="3543300" y="2305050"/>
            <a:ext cx="131445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cxnSp>
        <p:nvCxnSpPr>
          <p:cNvPr id="18" name="Straight Arrow Connector 17"/>
          <p:cNvCxnSpPr>
            <a:stCxn id="4" idx="3"/>
            <a:endCxn id="5" idx="1"/>
          </p:cNvCxnSpPr>
          <p:nvPr/>
        </p:nvCxnSpPr>
        <p:spPr>
          <a:xfrm>
            <a:off x="7715250" y="2305050"/>
            <a:ext cx="1143000" cy="0"/>
          </a:xfrm>
          <a:prstGeom prst="straightConnector1">
            <a:avLst/>
          </a:prstGeom>
          <a:ln w="19050">
            <a:solidFill>
              <a:srgbClr val="005CA9"/>
            </a:solidFill>
            <a:prstDash val="solid"/>
          </a:ln>
        </p:spPr>
      </p:cxnSp>
      <p:sp>
        <p:nvSpPr>
          <p:cNvPr id="8" name="bullets">
            <a:extLst>
              <a:ext uri="{FF2B5EF4-FFF2-40B4-BE49-F238E27FC236}">
                <a16:creationId xmlns:a16="http://schemas.microsoft.com/office/drawing/2014/main" id="{75D83CB6-1546-4321-831C-10F17AC648CB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8286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6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Find use cases with no alternate or exception scenarios.</a:t>
            </a:r>
          </a:p>
          <a:p>
            <a:pPr marL="22" indent="-12" algn="l">
              <a:spcAft>
                <a:spcPts val="6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Extract candidate requirements from off-nominal behavior.</a:t>
            </a:r>
          </a:p>
          <a:p>
            <a:pPr marL="22" indent="-12" algn="l">
              <a:spcAft>
                <a:spcPts val="6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Find scenarios without postconditions.</a:t>
            </a:r>
          </a:p>
          <a:p>
            <a:pPr marL="22" indent="-12" algn="l">
              <a:spcAft>
                <a:spcPts val="6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Expand a use case into behavioral threads.</a:t>
            </a:r>
          </a:p>
          <a:p>
            <a:pPr marL="22" indent="-12" algn="l">
              <a:spcAft>
                <a:spcPts val="6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Trace intent from requirement to behavior to verification.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30342AC0-A0C2-4076-B064-25D781B19D27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10" name="footer-section">
            <a:extLst>
              <a:ext uri="{FF2B5EF4-FFF2-40B4-BE49-F238E27FC236}">
                <a16:creationId xmlns:a16="http://schemas.microsoft.com/office/drawing/2014/main" id="{E8375E22-B8FD-48E6-BD20-07A020D4E765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Queries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48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9FFD5625-F8C3-4FC4-BA1B-85E4FB6B19B1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Off-nominal behavior is measurable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0782B798-3239-4B71-9ED2-A98AE0380F12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10493" y="1390650"/>
            <a:ext cx="8961463" cy="2619375"/>
          </a:xfrm>
          <a:prstGeom prst="rect">
            <a:avLst/>
          </a:prstGeom>
        </p:spPr>
      </p:pic>
      <p:sp>
        <p:nvSpPr>
          <p:cNvPr id="4" name="bottom-bullets">
            <a:extLst>
              <a:ext uri="{FF2B5EF4-FFF2-40B4-BE49-F238E27FC236}">
                <a16:creationId xmlns:a16="http://schemas.microsoft.com/office/drawing/2014/main" id="{5D9F20A6-90B6-4066-A959-7D5CE0290DC6}"/>
              </a:ext>
            </a:extLst>
          </p:cNvPr>
          <p:cNvSpPr>
            <a:spLocks noGrp="1"/>
          </p:cNvSpPr>
          <p:nvPr/>
        </p:nvSpPr>
        <p:spPr>
          <a:xfrm>
            <a:off x="1143000" y="4495800"/>
            <a:ext cx="8953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8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Alternate and exception scenarios are counted by use case.</a:t>
            </a:r>
          </a:p>
          <a:p>
            <a:pPr marL="22" indent="-12" algn="l">
              <a:spcAft>
                <a:spcPts val="8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cases with no off-nominal analysis become visible immediately.</a:t>
            </a:r>
          </a:p>
          <a:p>
            <a:pPr marL="22" indent="-12" algn="l">
              <a:spcAft>
                <a:spcPts val="8"/>
              </a:spcAft>
              <a:buChar char="•"/>
              <a:def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This is a completeness check over model semantics, not a manual document review.</a:t>
            </a: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DB05DA0-1EAB-42AF-B0B0-5BBFBB518230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9F6C1873-1AD7-48BE-A967-C7F5F7826F8F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Queries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38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-title">
            <a:extLst>
              <a:ext uri="{FF2B5EF4-FFF2-40B4-BE49-F238E27FC236}">
                <a16:creationId xmlns:a16="http://schemas.microsoft.com/office/drawing/2014/main" id="{EC03C5D2-8E4D-4FAF-9E13-A3FB9A47CBD0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One model exposes hotspots and candidate requirements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9ED9720-E022-4A1F-AB35-6290CE393E4F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0803" y="1428750"/>
            <a:ext cx="4833445" cy="2476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810250" y="1442552"/>
            <a:ext cx="5572125" cy="2448896"/>
          </a:xfrm>
          <a:prstGeom prst="rect">
            <a:avLst/>
          </a:prstGeom>
        </p:spPr>
      </p:pic>
      <p:sp>
        <p:nvSpPr>
          <p:cNvPr id="5" name="copyright">
            <a:extLst>
              <a:ext uri="{FF2B5EF4-FFF2-40B4-BE49-F238E27FC236}">
                <a16:creationId xmlns:a16="http://schemas.microsoft.com/office/drawing/2014/main" id="{58396814-6FF0-4176-95BA-3393ED13CD4C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6" name="footer-section">
            <a:extLst>
              <a:ext uri="{FF2B5EF4-FFF2-40B4-BE49-F238E27FC236}">
                <a16:creationId xmlns:a16="http://schemas.microsoft.com/office/drawing/2014/main" id="{C66731DA-A00E-446C-B38A-AC1D6E2AFF70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Queries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52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-title">
            <a:extLst>
              <a:ext uri="{FF2B5EF4-FFF2-40B4-BE49-F238E27FC236}">
                <a16:creationId xmlns:a16="http://schemas.microsoft.com/office/drawing/2014/main" id="{EDE87697-8F43-4B9B-8884-5C004CED0A0D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Standardization can focus on reusable semantics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B9977F81-46D2-4020-AB44-A3E4466C78A5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cell-0-0">
            <a:extLst>
              <a:ext uri="{FF2B5EF4-FFF2-40B4-BE49-F238E27FC236}">
                <a16:creationId xmlns:a16="http://schemas.microsoft.com/office/drawing/2014/main" id="{400C25FE-FDB3-4D66-8A97-E54133C51051}"/>
              </a:ext>
            </a:extLst>
          </p:cNvPr>
          <p:cNvSpPr>
            <a:spLocks noGrp="1"/>
          </p:cNvSpPr>
          <p:nvPr/>
        </p:nvSpPr>
        <p:spPr>
          <a:xfrm>
            <a:off x="1381125" y="1447800"/>
            <a:ext cx="2190750" cy="552450"/>
          </a:xfrm>
          <a:prstGeom prst="rect">
            <a:avLst/>
          </a:prstGeom>
          <a:solidFill>
            <a:srgbClr val="005CA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4" name="cell-text-0-0">
            <a:extLst>
              <a:ext uri="{FF2B5EF4-FFF2-40B4-BE49-F238E27FC236}">
                <a16:creationId xmlns:a16="http://schemas.microsoft.com/office/drawing/2014/main" id="{B31560E6-7499-4990-AFDC-EB01D470948A}"/>
              </a:ext>
            </a:extLst>
          </p:cNvPr>
          <p:cNvSpPr>
            <a:spLocks noGrp="1"/>
          </p:cNvSpPr>
          <p:nvPr/>
        </p:nvSpPr>
        <p:spPr>
          <a:xfrm>
            <a:off x="1514475" y="159067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</a:t>
            </a:r>
          </a:p>
        </p:txBody>
      </p:sp>
      <p:sp>
        <p:nvSpPr>
          <p:cNvPr id="5" name="cell-0-1">
            <a:extLst>
              <a:ext uri="{FF2B5EF4-FFF2-40B4-BE49-F238E27FC236}">
                <a16:creationId xmlns:a16="http://schemas.microsoft.com/office/drawing/2014/main" id="{73B5829A-B1AE-49E1-8647-0806F5BF5FBE}"/>
              </a:ext>
            </a:extLst>
          </p:cNvPr>
          <p:cNvSpPr>
            <a:spLocks noGrp="1"/>
          </p:cNvSpPr>
          <p:nvPr/>
        </p:nvSpPr>
        <p:spPr>
          <a:xfrm>
            <a:off x="3571875" y="1447800"/>
            <a:ext cx="7239000" cy="552450"/>
          </a:xfrm>
          <a:prstGeom prst="rect">
            <a:avLst/>
          </a:prstGeom>
          <a:solidFill>
            <a:srgbClr val="005CA9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6" name="cell-text-0-1">
            <a:extLst>
              <a:ext uri="{FF2B5EF4-FFF2-40B4-BE49-F238E27FC236}">
                <a16:creationId xmlns:a16="http://schemas.microsoft.com/office/drawing/2014/main" id="{0BB9923C-F679-4F8F-BE0E-3EF11E7BF63B}"/>
              </a:ext>
            </a:extLst>
          </p:cNvPr>
          <p:cNvSpPr>
            <a:spLocks noGrp="1"/>
          </p:cNvSpPr>
          <p:nvPr/>
        </p:nvSpPr>
        <p:spPr>
          <a:xfrm>
            <a:off x="3705225" y="1590675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v0.9 proposes</a:t>
            </a:r>
          </a:p>
        </p:txBody>
      </p:sp>
      <p:sp>
        <p:nvSpPr>
          <p:cNvPr id="7" name="cell-1-0">
            <a:extLst>
              <a:ext uri="{FF2B5EF4-FFF2-40B4-BE49-F238E27FC236}">
                <a16:creationId xmlns:a16="http://schemas.microsoft.com/office/drawing/2014/main" id="{03026441-1772-44AC-BFA4-701692A6AF1E}"/>
              </a:ext>
            </a:extLst>
          </p:cNvPr>
          <p:cNvSpPr>
            <a:spLocks noGrp="1"/>
          </p:cNvSpPr>
          <p:nvPr/>
        </p:nvSpPr>
        <p:spPr>
          <a:xfrm>
            <a:off x="1381125" y="2000250"/>
            <a:ext cx="2190750" cy="552450"/>
          </a:xfrm>
          <a:prstGeom prst="rect">
            <a:avLst/>
          </a:prstGeom>
          <a:solidFill>
            <a:srgbClr val="E8F2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8" name="cell-text-1-0">
            <a:extLst>
              <a:ext uri="{FF2B5EF4-FFF2-40B4-BE49-F238E27FC236}">
                <a16:creationId xmlns:a16="http://schemas.microsoft.com/office/drawing/2014/main" id="{93BE781B-E89E-4AD0-B3B7-793261805A49}"/>
              </a:ext>
            </a:extLst>
          </p:cNvPr>
          <p:cNvSpPr>
            <a:spLocks noGrp="1"/>
          </p:cNvSpPr>
          <p:nvPr/>
        </p:nvSpPr>
        <p:spPr>
          <a:xfrm>
            <a:off x="1514475" y="214312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Library</a:t>
            </a:r>
          </a:p>
        </p:txBody>
      </p:sp>
      <p:sp>
        <p:nvSpPr>
          <p:cNvPr id="9" name="cell-1-1">
            <a:extLst>
              <a:ext uri="{FF2B5EF4-FFF2-40B4-BE49-F238E27FC236}">
                <a16:creationId xmlns:a16="http://schemas.microsoft.com/office/drawing/2014/main" id="{952BAF5C-8493-4D1D-AF0F-1DCE5477CBD6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0" name="cell-text-1-1">
            <a:extLst>
              <a:ext uri="{FF2B5EF4-FFF2-40B4-BE49-F238E27FC236}">
                <a16:creationId xmlns:a16="http://schemas.microsoft.com/office/drawing/2014/main" id="{C5611296-5A30-42DB-9781-65954D7C6840}"/>
              </a:ext>
            </a:extLst>
          </p:cNvPr>
          <p:cNvSpPr>
            <a:spLocks noGrp="1"/>
          </p:cNvSpPr>
          <p:nvPr/>
        </p:nvSpPr>
        <p:spPr>
          <a:xfrm>
            <a:off x="3705225" y="2143125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Structured use case specifications and simplified diagrams</a:t>
            </a:r>
          </a:p>
        </p:txBody>
      </p:sp>
      <p:sp>
        <p:nvSpPr>
          <p:cNvPr id="11" name="cell-2-0">
            <a:extLst>
              <a:ext uri="{FF2B5EF4-FFF2-40B4-BE49-F238E27FC236}">
                <a16:creationId xmlns:a16="http://schemas.microsoft.com/office/drawing/2014/main" id="{B4354BBA-949B-4D5B-B023-98626131498D}"/>
              </a:ext>
            </a:extLst>
          </p:cNvPr>
          <p:cNvSpPr>
            <a:spLocks noGrp="1"/>
          </p:cNvSpPr>
          <p:nvPr/>
        </p:nvSpPr>
        <p:spPr>
          <a:xfrm>
            <a:off x="1381125" y="2552700"/>
            <a:ext cx="2190750" cy="552450"/>
          </a:xfrm>
          <a:prstGeom prst="rect">
            <a:avLst/>
          </a:prstGeom>
          <a:solidFill>
            <a:srgbClr val="E8F2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2" name="cell-text-2-0">
            <a:extLst>
              <a:ext uri="{FF2B5EF4-FFF2-40B4-BE49-F238E27FC236}">
                <a16:creationId xmlns:a16="http://schemas.microsoft.com/office/drawing/2014/main" id="{8F679B65-910D-4CCA-A3FF-2E1FF1F4A171}"/>
              </a:ext>
            </a:extLst>
          </p:cNvPr>
          <p:cNvSpPr>
            <a:spLocks noGrp="1"/>
          </p:cNvSpPr>
          <p:nvPr/>
        </p:nvSpPr>
        <p:spPr>
          <a:xfrm>
            <a:off x="1514475" y="269557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Interchange</a:t>
            </a:r>
          </a:p>
        </p:txBody>
      </p:sp>
      <p:sp>
        <p:nvSpPr>
          <p:cNvPr id="13" name="cell-2-1">
            <a:extLst>
              <a:ext uri="{FF2B5EF4-FFF2-40B4-BE49-F238E27FC236}">
                <a16:creationId xmlns:a16="http://schemas.microsoft.com/office/drawing/2014/main" id="{358C552D-F515-482B-83CD-C29DDC41EF10}"/>
              </a:ext>
            </a:extLst>
          </p:cNvPr>
          <p:cNvSpPr>
            <a:spLocks noGrp="1"/>
          </p:cNvSpPr>
          <p:nvPr/>
        </p:nvSpPr>
        <p:spPr>
          <a:xfrm>
            <a:off x="3571875" y="255270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4" name="cell-text-2-1">
            <a:extLst>
              <a:ext uri="{FF2B5EF4-FFF2-40B4-BE49-F238E27FC236}">
                <a16:creationId xmlns:a16="http://schemas.microsoft.com/office/drawing/2014/main" id="{4CE95A87-E5DC-434C-9717-DA4DBCB43D10}"/>
              </a:ext>
            </a:extLst>
          </p:cNvPr>
          <p:cNvSpPr>
            <a:spLocks noGrp="1"/>
          </p:cNvSpPr>
          <p:nvPr/>
        </p:nvSpPr>
        <p:spPr>
          <a:xfrm>
            <a:off x="3705225" y="2695575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 Case Model JSON plus direct SysML v2 textual export</a:t>
            </a:r>
          </a:p>
        </p:txBody>
      </p:sp>
      <p:sp>
        <p:nvSpPr>
          <p:cNvPr id="15" name="cell-3-0">
            <a:extLst>
              <a:ext uri="{FF2B5EF4-FFF2-40B4-BE49-F238E27FC236}">
                <a16:creationId xmlns:a16="http://schemas.microsoft.com/office/drawing/2014/main" id="{87623358-5B9A-4FA8-A2C6-A02B0DFF348E}"/>
              </a:ext>
            </a:extLst>
          </p:cNvPr>
          <p:cNvSpPr>
            <a:spLocks noGrp="1"/>
          </p:cNvSpPr>
          <p:nvPr/>
        </p:nvSpPr>
        <p:spPr>
          <a:xfrm>
            <a:off x="1381125" y="3105150"/>
            <a:ext cx="2190750" cy="552450"/>
          </a:xfrm>
          <a:prstGeom prst="rect">
            <a:avLst/>
          </a:prstGeom>
          <a:solidFill>
            <a:srgbClr val="E8F2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6" name="cell-text-3-0">
            <a:extLst>
              <a:ext uri="{FF2B5EF4-FFF2-40B4-BE49-F238E27FC236}">
                <a16:creationId xmlns:a16="http://schemas.microsoft.com/office/drawing/2014/main" id="{81B7FAFA-8CA3-4C25-A2CD-20DA6DC35342}"/>
              </a:ext>
            </a:extLst>
          </p:cNvPr>
          <p:cNvSpPr>
            <a:spLocks noGrp="1"/>
          </p:cNvSpPr>
          <p:nvPr/>
        </p:nvSpPr>
        <p:spPr>
          <a:xfrm>
            <a:off x="1514475" y="324802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Testing</a:t>
            </a:r>
          </a:p>
        </p:txBody>
      </p:sp>
      <p:sp>
        <p:nvSpPr>
          <p:cNvPr id="17" name="cell-3-1">
            <a:extLst>
              <a:ext uri="{FF2B5EF4-FFF2-40B4-BE49-F238E27FC236}">
                <a16:creationId xmlns:a16="http://schemas.microsoft.com/office/drawing/2014/main" id="{4C981DF5-152C-477D-A67B-361DDDA4041E}"/>
              </a:ext>
            </a:extLst>
          </p:cNvPr>
          <p:cNvSpPr>
            <a:spLocks noGrp="1"/>
          </p:cNvSpPr>
          <p:nvPr/>
        </p:nvSpPr>
        <p:spPr>
          <a:xfrm>
            <a:off x="3571875" y="310515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18" name="cell-text-3-1">
            <a:extLst>
              <a:ext uri="{FF2B5EF4-FFF2-40B4-BE49-F238E27FC236}">
                <a16:creationId xmlns:a16="http://schemas.microsoft.com/office/drawing/2014/main" id="{987D7BA2-8438-426D-8811-4DD4AA6A1953}"/>
              </a:ext>
            </a:extLst>
          </p:cNvPr>
          <p:cNvSpPr>
            <a:spLocks noGrp="1"/>
          </p:cNvSpPr>
          <p:nvPr/>
        </p:nvSpPr>
        <p:spPr>
          <a:xfrm>
            <a:off x="3705225" y="3248025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StructuredTestCase, TestScenario, TestStep, VerifyUseCase, VerifyScenario</a:t>
            </a:r>
          </a:p>
        </p:txBody>
      </p:sp>
      <p:sp>
        <p:nvSpPr>
          <p:cNvPr id="19" name="cell-4-0">
            <a:extLst>
              <a:ext uri="{FF2B5EF4-FFF2-40B4-BE49-F238E27FC236}">
                <a16:creationId xmlns:a16="http://schemas.microsoft.com/office/drawing/2014/main" id="{929CF5E3-CF6E-44A0-9ADA-01DAB73EF2A6}"/>
              </a:ext>
            </a:extLst>
          </p:cNvPr>
          <p:cNvSpPr>
            <a:spLocks noGrp="1"/>
          </p:cNvSpPr>
          <p:nvPr/>
        </p:nvSpPr>
        <p:spPr>
          <a:xfrm>
            <a:off x="1381125" y="3657600"/>
            <a:ext cx="2190750" cy="552450"/>
          </a:xfrm>
          <a:prstGeom prst="rect">
            <a:avLst/>
          </a:prstGeom>
          <a:solidFill>
            <a:srgbClr val="E8F2FB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0" name="cell-text-4-0">
            <a:extLst>
              <a:ext uri="{FF2B5EF4-FFF2-40B4-BE49-F238E27FC236}">
                <a16:creationId xmlns:a16="http://schemas.microsoft.com/office/drawing/2014/main" id="{57983630-83D4-4CBE-9A37-B97850CB8E94}"/>
              </a:ext>
            </a:extLst>
          </p:cNvPr>
          <p:cNvSpPr>
            <a:spLocks noGrp="1"/>
          </p:cNvSpPr>
          <p:nvPr/>
        </p:nvSpPr>
        <p:spPr>
          <a:xfrm>
            <a:off x="1514475" y="3800475"/>
            <a:ext cx="1924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Analysis</a:t>
            </a:r>
          </a:p>
        </p:txBody>
      </p:sp>
      <p:sp>
        <p:nvSpPr>
          <p:cNvPr id="21" name="cell-4-1">
            <a:extLst>
              <a:ext uri="{FF2B5EF4-FFF2-40B4-BE49-F238E27FC236}">
                <a16:creationId xmlns:a16="http://schemas.microsoft.com/office/drawing/2014/main" id="{3B4FCA40-9437-44E0-A6C7-BFC179BF56CF}"/>
              </a:ext>
            </a:extLst>
          </p:cNvPr>
          <p:cNvSpPr>
            <a:spLocks noGrp="1"/>
          </p:cNvSpPr>
          <p:nvPr/>
        </p:nvSpPr>
        <p:spPr>
          <a:xfrm>
            <a:off x="3571875" y="365760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E"/>
            </a:solidFill>
            <a:prstDash val="solid"/>
          </a:ln>
        </p:spPr>
      </p:sp>
      <p:sp>
        <p:nvSpPr>
          <p:cNvPr id="22" name="cell-text-4-1">
            <a:extLst>
              <a:ext uri="{FF2B5EF4-FFF2-40B4-BE49-F238E27FC236}">
                <a16:creationId xmlns:a16="http://schemas.microsoft.com/office/drawing/2014/main" id="{17596AF4-6DC1-43DC-AA21-095DA8B30EFB}"/>
              </a:ext>
            </a:extLst>
          </p:cNvPr>
          <p:cNvSpPr>
            <a:spLocks noGrp="1"/>
          </p:cNvSpPr>
          <p:nvPr/>
        </p:nvSpPr>
        <p:spPr>
          <a:xfrm>
            <a:off x="3705225" y="3800475"/>
            <a:ext cx="697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ctr">
            <a:normAutofit/>
          </a:bodyPr>
          <a:lstStyle/>
          <a:p>
            <a:pPr algn="l">
              <a:def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Queries for off-nominal coverage, requirements, threads, and traceability</a:t>
            </a:r>
          </a:p>
        </p:txBody>
      </p:sp>
      <p:sp>
        <p:nvSpPr>
          <p:cNvPr id="23" name="copyright">
            <a:extLst>
              <a:ext uri="{FF2B5EF4-FFF2-40B4-BE49-F238E27FC236}">
                <a16:creationId xmlns:a16="http://schemas.microsoft.com/office/drawing/2014/main" id="{6E14C929-70BE-4030-B936-0E47E4937A2A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24" name="footer-section">
            <a:extLst>
              <a:ext uri="{FF2B5EF4-FFF2-40B4-BE49-F238E27FC236}">
                <a16:creationId xmlns:a16="http://schemas.microsoft.com/office/drawing/2014/main" id="{1A188CC7-E68A-43BD-8E1F-14EC579FB00F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Standardization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01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E6BDBB7A-5648-425E-9227-EC90C34B95EE}"/>
              </a:ext>
            </a:extLst>
          </p:cNvPr>
          <p:cNvSpPr>
            <a:spLocks noGrp="1"/>
          </p:cNvSpPr>
          <p:nvPr/>
        </p:nvSpPr>
        <p:spPr>
          <a:xfrm>
            <a:off x="533400" y="3619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Structured use cases make behavior available to automation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3B8996F3-BAEB-485D-892A-8956C50D7377}"/>
              </a:ext>
            </a:extLst>
          </p:cNvPr>
          <p:cNvSpPr>
            <a:spLocks noGrp="1"/>
          </p:cNvSpPr>
          <p:nvPr/>
        </p:nvSpPr>
        <p:spPr>
          <a:xfrm>
            <a:off x="533400" y="971550"/>
            <a:ext cx="809625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main-bullets">
            <a:extLst>
              <a:ext uri="{FF2B5EF4-FFF2-40B4-BE49-F238E27FC236}">
                <a16:creationId xmlns:a16="http://schemas.microsoft.com/office/drawing/2014/main" id="{8D44A56B-4D17-4231-9BD5-C982D37C45AF}"/>
              </a:ext>
            </a:extLst>
          </p:cNvPr>
          <p:cNvSpPr>
            <a:spLocks noGrp="1"/>
          </p:cNvSpPr>
          <p:nvPr/>
        </p:nvSpPr>
        <p:spPr>
          <a:xfrm>
            <a:off x="1047750" y="1524000"/>
            <a:ext cx="85725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0" rIns="38100" bIns="0" anchor="t">
            <a:normAutofit/>
          </a:bodyPr>
          <a:lstStyle/>
          <a:p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They improve how engineers specify behavior.</a:t>
            </a:r>
          </a:p>
          <a:p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They expose missing requirements through alternate and exception analysis.</a:t>
            </a:r>
          </a:p>
          <a:p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They support behavioral test generation and traceability.</a:t>
            </a:r>
          </a:p>
          <a:p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They make model-based analysis practical because the semantics are explicit.</a:t>
            </a:r>
          </a:p>
          <a:p>
            <a:pPr marL="22" indent="-12" algn="l">
              <a:spcAft>
                <a:spcPts val="10"/>
              </a:spcAft>
              <a:buChar char="•"/>
              <a:def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They create a stronger foundation for AI-assisted engineering workflows.</a:t>
            </a: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6F1D023F-C853-4B9E-91E3-AE3AF2A30E97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5" name="footer-section">
            <a:extLst>
              <a:ext uri="{FF2B5EF4-FFF2-40B4-BE49-F238E27FC236}">
                <a16:creationId xmlns:a16="http://schemas.microsoft.com/office/drawing/2014/main" id="{E5AD9168-AFA1-4E2C-9C11-9D3F51E5EF85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4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questions">
            <a:extLst>
              <a:ext uri="{FF2B5EF4-FFF2-40B4-BE49-F238E27FC236}">
                <a16:creationId xmlns:a16="http://schemas.microsoft.com/office/drawing/2014/main" id="{6694964E-1A23-4CD0-8B01-09922ED35742}"/>
              </a:ext>
            </a:extLst>
          </p:cNvPr>
          <p:cNvSpPr>
            <a:spLocks noGrp="1"/>
          </p:cNvSpPr>
          <p:nvPr/>
        </p:nvSpPr>
        <p:spPr>
          <a:xfrm>
            <a:off x="0" y="2266950"/>
            <a:ext cx="1219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28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Questions?</a:t>
            </a:r>
          </a:p>
        </p:txBody>
      </p:sp>
      <p:sp>
        <p:nvSpPr>
          <p:cNvPr id="2" name="qa-rule">
            <a:extLst>
              <a:ext uri="{FF2B5EF4-FFF2-40B4-BE49-F238E27FC236}">
                <a16:creationId xmlns:a16="http://schemas.microsoft.com/office/drawing/2014/main" id="{FC2D115B-60AF-4963-8845-89836E6CDA7D}"/>
              </a:ext>
            </a:extLst>
          </p:cNvPr>
          <p:cNvSpPr>
            <a:spLocks noGrp="1"/>
          </p:cNvSpPr>
          <p:nvPr/>
        </p:nvSpPr>
        <p:spPr>
          <a:xfrm>
            <a:off x="4838700" y="3028950"/>
            <a:ext cx="2514600" cy="28575"/>
          </a:xfrm>
          <a:prstGeom prst="rect">
            <a:avLst/>
          </a:prstGeom>
          <a:solidFill>
            <a:srgbClr val="005CA9"/>
          </a:solidFill>
          <a:ln w="0">
            <a:solidFill>
              <a:srgbClr val="005CA9"/>
            </a:solidFill>
            <a:prstDash val="solid"/>
          </a:ln>
        </p:spPr>
      </p:sp>
      <p:sp>
        <p:nvSpPr>
          <p:cNvPr id="3" name="speaker">
            <a:extLst>
              <a:ext uri="{FF2B5EF4-FFF2-40B4-BE49-F238E27FC236}">
                <a16:creationId xmlns:a16="http://schemas.microsoft.com/office/drawing/2014/main" id="{EC06E7D0-5C17-4AE9-8DC7-D5B8366C3BD9}"/>
              </a:ext>
            </a:extLst>
          </p:cNvPr>
          <p:cNvSpPr>
            <a:spLocks noGrp="1"/>
          </p:cNvSpPr>
          <p:nvPr/>
        </p:nvSpPr>
        <p:spPr>
          <a:xfrm>
            <a:off x="0" y="3467100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2593"/>
          </a:bodyPr>
          <a:lstStyle/>
          <a:p>
            <a:pPr algn="ctr">
              <a:defRPr sz="13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Doug Rosenberg</a:t>
            </a:r>
          </a:p>
        </p:txBody>
      </p:sp>
      <p:sp>
        <p:nvSpPr>
          <p:cNvPr id="4" name="company">
            <a:extLst>
              <a:ext uri="{FF2B5EF4-FFF2-40B4-BE49-F238E27FC236}">
                <a16:creationId xmlns:a16="http://schemas.microsoft.com/office/drawing/2014/main" id="{B2E5DD0D-3435-47D8-BCCD-3D0BA306E8F1}"/>
              </a:ext>
            </a:extLst>
          </p:cNvPr>
          <p:cNvSpPr>
            <a:spLocks noGrp="1"/>
          </p:cNvSpPr>
          <p:nvPr/>
        </p:nvSpPr>
        <p:spPr>
          <a:xfrm>
            <a:off x="0" y="3943350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2593"/>
          </a:bodyPr>
          <a:lstStyle/>
          <a:p>
            <a:pPr algn="ctr">
              <a:defRPr sz="1350" b="1" i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Parallel Agile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B7610CCD-DC94-4A0D-9BC6-68DEFC4D1C56}"/>
              </a:ext>
            </a:extLst>
          </p:cNvPr>
          <p:cNvSpPr>
            <a:spLocks noGrp="1"/>
          </p:cNvSpPr>
          <p:nvPr/>
        </p:nvSpPr>
        <p:spPr>
          <a:xfrm>
            <a:off x="0" y="4514850"/>
            <a:ext cx="1219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 fontScale="92593"/>
          </a:bodyPr>
          <a:lstStyle/>
          <a:p>
            <a:pPr algn="ctr">
              <a:defRPr sz="1350" b="1" i="0">
                <a:solidFill>
                  <a:srgbClr val="005CA9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05CA9"/>
                </a:solidFill>
                <a:latin typeface="Calibri"/>
                <a:ea typeface="Calibri"/>
                <a:cs typeface="Calibri"/>
              </a:rPr>
              <a:t>www.parallelagile.com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CDAF5D4-5E51-44F6-909F-A1D7DD3D41BE}"/>
              </a:ext>
            </a:extLst>
          </p:cNvPr>
          <p:cNvSpPr>
            <a:spLocks noGrp="1"/>
          </p:cNvSpPr>
          <p:nvPr/>
        </p:nvSpPr>
        <p:spPr>
          <a:xfrm>
            <a:off x="457200" y="6257925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l">
              <a:def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750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© 2026 Parallel Agile, Inc. All Rights Reserved</a:t>
            </a:r>
          </a:p>
        </p:txBody>
      </p:sp>
      <p:sp>
        <p:nvSpPr>
          <p:cNvPr id="7" name="footer-section">
            <a:extLst>
              <a:ext uri="{FF2B5EF4-FFF2-40B4-BE49-F238E27FC236}">
                <a16:creationId xmlns:a16="http://schemas.microsoft.com/office/drawing/2014/main" id="{5A4CD0BD-A41B-4ADE-A28A-325A167DA9EA}"/>
              </a:ext>
            </a:extLst>
          </p:cNvPr>
          <p:cNvSpPr>
            <a:spLocks noGrp="1"/>
          </p:cNvSpPr>
          <p:nvPr/>
        </p:nvSpPr>
        <p:spPr>
          <a:xfrm>
            <a:off x="4667250" y="62579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 anchor="t">
            <a:normAutofit/>
          </a:bodyPr>
          <a:lstStyle/>
          <a:p>
            <a:pPr algn="ctr">
              <a:def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3666A"/>
                </a:solidFill>
                <a:latin typeface="Calibri"/>
                <a:ea typeface="Calibri"/>
                <a:cs typeface="Calibri"/>
              </a:rPr>
              <a:t>Closing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01250" y="6143625"/>
            <a:ext cx="1428750" cy="4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0536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Macintosh PowerPoint</Application>
  <DocSecurity>0</DocSecurity>
  <PresentationFormat>Widescreen</PresentationFormat>
  <Paragraphs>191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CTME Presenter</cp:lastModifiedBy>
  <cp:revision>1</cp:revision>
  <dcterms:created xsi:type="dcterms:W3CDTF">2026-09-09T17:10:08Z</dcterms:created>
  <dcterms:modified xsi:type="dcterms:W3CDTF">2026-09-09T17:13:47Z</dcterms:modified>
</cp:coreProperties>
</file>